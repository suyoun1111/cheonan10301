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2026-10-30 compiled from published materials. Facts may have different reference dates. 
[Sources]
- https://ntu.ff.or.kr/22/?bmode=view&amp;idx=170085511
- https://v.daum.net/v/20260102152949006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2026-10-30 compiled from published materials. Facts may have different reference dates. 
[Sources]
- https://v.daum.net/v/20260102152949006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2026-10-30 compiled from published materials. Facts may have different reference dates. 
[Sources]
- https://v.daum.net/v/20260102152949006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2026-10-30 compiled from published materials. Facts may have different reference dates. 951 hundred million KRW, 80 projects, 5 sectors are plan figures.
[Sources]
- https://ntu.ff.or.kr/22/?bmode=view&amp;idx=170085511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2026-10-30 compiled from published materials. Facts may have different reference dates. 2026 participant count of 260 is planned recruitment, not achieved outcome.
[Sources]
- https://ntu.ff.or.kr/22/?bmode=view&amp;idx=170085511
- https://23.32.ch2030youth.kr/bbs/board.php?bo_table=notice&amp;wr_id=570
- https://www.cheonancouncil.go.kr/cms/mntsViewer.do?schMntsId=5052
- https://m.ctnews.kr/article.php?aid=1768440032437342021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2026-10-30 compiled from published materials. Facts may have different reference dates. 
[Sources]
- https://ntu.ff.or.kr/22/?bmode=view&amp;idx=170085511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2026-10-30 compiled from published materials. Facts may have different reference dates. 
[Sources]
- https://ntu.ff.or.kr/22/?bmode=view&amp;idx=170085511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2026-10-30 compiled from published materials. Facts may have different reference dates. Achievement counts from 2021 through August 2025; the 2026 plan is not a result.
[Sources]
- https://www.newsis.com/view/NISX20250905_0003317080
- https://m.ctnews.kr/article.php?aid=1768440032437342021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2026-10-30 compiled from published materials. Facts may have different reference dates. Ideas on this slide are recommendations, not officially approved projects.
[Sources]
- https://ntu.ff.or.kr/22/?bmode=view&amp;idx=170085511
- https://www.cheonancouncil.go.kr/cms/mntsViewer.do?schMntsId=5052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2026-10-30 compiled from published materials. Facts may have different reference dates. 
[Sources]
- https://ntu.ff.or.kr/22/?bmode=view&amp;idx=170085511
- https://v.daum.net/v/20260102152949006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0"/>
            <a:ext cx="5340096" cy="5340096"/>
          </a:xfrm>
          <a:prstGeom prst="ellipse">
            <a:avLst/>
          </a:prstGeom>
          <a:solidFill>
            <a:srgbClr val="DAF4FF"/>
          </a:solidFill>
          <a:ln w="12700">
            <a:solidFill>
              <a:srgbClr val="DAF4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33888" y="320040"/>
            <a:ext cx="960120" cy="960120"/>
          </a:xfrm>
          <a:prstGeom prst="ellipse">
            <a:avLst/>
          </a:prstGeom>
          <a:solidFill>
            <a:srgbClr val="FFE16E"/>
          </a:solidFill>
          <a:ln w="12700">
            <a:solidFill>
              <a:srgbClr val="FFE1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153912"/>
            <a:ext cx="12192000" cy="704088"/>
          </a:xfrm>
          <a:prstGeom prst="rect">
            <a:avLst/>
          </a:prstGeom>
          <a:solidFill>
            <a:srgbClr val="D8F477"/>
          </a:solidFill>
          <a:ln w="12700">
            <a:solidFill>
              <a:srgbClr val="D8F47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612648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786384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960120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612648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786384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960120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4984" y="612648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" y="786384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984" y="960120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612648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786384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960120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62456" y="612648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62456" y="786384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62456" y="960120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36192" y="612648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36192" y="786384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36192" y="960120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09928" y="612648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09928" y="786384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09928" y="960120"/>
            <a:ext cx="41148" cy="4114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1078992"/>
            <a:ext cx="2359152" cy="411480"/>
          </a:xfrm>
          <a:prstGeom prst="roundRect">
            <a:avLst>
              <a:gd name="adj" fmla="val 48889"/>
            </a:avLst>
          </a:prstGeom>
          <a:solidFill>
            <a:srgbClr val="3D58E8"/>
          </a:solidFill>
          <a:ln w="12700">
            <a:solidFill>
              <a:srgbClr val="3D58E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1156716"/>
            <a:ext cx="1984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CHEONAN 2026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" y="1856232"/>
            <a:ext cx="58521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9000"/>
              </a:lnSpc>
              <a:buNone/>
            </a:pPr>
            <a:r>
              <a:rPr lang="en-US" sz="40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청년의 가능성,</a:t>
            </a:r>
            <a:endParaRPr lang="en-US" sz="4000" dirty="0"/>
          </a:p>
          <a:p>
            <a:pPr indent="0" marL="0">
              <a:lnSpc>
                <a:spcPct val="109000"/>
              </a:lnSpc>
              <a:buNone/>
            </a:pPr>
            <a:r>
              <a:rPr lang="en-US" sz="40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천안의 경쟁력이 되다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685800" y="4087368"/>
            <a:ext cx="5349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2026 천안시 청년정책 현황과 미래 방향</a:t>
            </a:r>
            <a:endParaRPr lang="en-US" sz="1600" dirty="0"/>
          </a:p>
        </p:txBody>
      </p:sp>
      <p:pic>
        <p:nvPicPr>
          <p:cNvPr id="30" name="Image 0" descr="/mnt/data/cheonan_policy_bright/assets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513893"/>
            <a:ext cx="5980176" cy="5382158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85800" y="5276088"/>
            <a:ext cx="1700784" cy="758952"/>
          </a:xfrm>
          <a:prstGeom prst="roundRect">
            <a:avLst>
              <a:gd name="adj" fmla="val 289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1248" y="5385816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951억 원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841248" y="576986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2026 정책 규모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2514600" y="5276088"/>
            <a:ext cx="1700784" cy="758952"/>
          </a:xfrm>
          <a:prstGeom prst="roundRect">
            <a:avLst>
              <a:gd name="adj" fmla="val 289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670048" y="5385816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786D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80개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2670048" y="576986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시행계획 사업 수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343400" y="5276088"/>
            <a:ext cx="1700784" cy="758952"/>
          </a:xfrm>
          <a:prstGeom prst="roundRect">
            <a:avLst>
              <a:gd name="adj" fmla="val 289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498848" y="5385816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C8D92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29.9%</a:t>
            </a:r>
            <a:endParaRPr lang="en-US" sz="2100" dirty="0"/>
          </a:p>
        </p:txBody>
      </p:sp>
      <p:sp>
        <p:nvSpPr>
          <p:cNvPr id="39" name="Text 36"/>
          <p:cNvSpPr/>
          <p:nvPr/>
        </p:nvSpPr>
        <p:spPr>
          <a:xfrm>
            <a:off x="4498848" y="576986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청년인구 비중*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716768" y="64008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2026 · 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38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CHEONAN  /  YOUTH POLICY 2026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009376" y="228600"/>
            <a:ext cx="557784" cy="557784"/>
          </a:xfrm>
          <a:prstGeom prst="ellipse">
            <a:avLst/>
          </a:prstGeom>
          <a:solidFill>
            <a:srgbClr val="21334C"/>
          </a:solidFill>
          <a:ln w="12700">
            <a:solidFill>
              <a:srgbClr val="2133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8248" y="3474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877824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천안시 인구 10명 중 3명은 청년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676656" y="15544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만 18~39세 청년 197,572명  |  2025년 5월 주민등록인구 기준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6492240"/>
            <a:ext cx="10881360" cy="0"/>
          </a:xfrm>
          <a:prstGeom prst="line">
            <a:avLst/>
          </a:prstGeom>
          <a:noFill/>
          <a:ln w="8890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47104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출처: 천안시 2025 청년통계 조사(2026.1.2 보도)</a:t>
            </a:r>
            <a:endParaRPr lang="en-US" sz="715" dirty="0"/>
          </a:p>
        </p:txBody>
      </p:sp>
      <p:sp>
        <p:nvSpPr>
          <p:cNvPr id="9" name="Text 7"/>
          <p:cNvSpPr/>
          <p:nvPr/>
        </p:nvSpPr>
        <p:spPr>
          <a:xfrm>
            <a:off x="10716768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02 /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902952" y="1609344"/>
            <a:ext cx="1947672" cy="1947672"/>
          </a:xfrm>
          <a:prstGeom prst="ellipse">
            <a:avLst/>
          </a:prstGeom>
          <a:solidFill>
            <a:srgbClr val="DAF4FF"/>
          </a:solidFill>
          <a:ln w="12700">
            <a:solidFill>
              <a:srgbClr val="DAF4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08792" y="4343400"/>
            <a:ext cx="50292" cy="50292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08792" y="4535424"/>
            <a:ext cx="50292" cy="50292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08792" y="4727448"/>
            <a:ext cx="50292" cy="50292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0816" y="4343400"/>
            <a:ext cx="50292" cy="50292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0816" y="4535424"/>
            <a:ext cx="50292" cy="50292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0816" y="4727448"/>
            <a:ext cx="50292" cy="50292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92840" y="4343400"/>
            <a:ext cx="50292" cy="50292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92840" y="4535424"/>
            <a:ext cx="50292" cy="50292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27448"/>
            <a:ext cx="50292" cy="50292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84864" y="4343400"/>
            <a:ext cx="50292" cy="50292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84864" y="4535424"/>
            <a:ext cx="50292" cy="50292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84864" y="4727448"/>
            <a:ext cx="50292" cy="50292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2011680"/>
            <a:ext cx="1664208" cy="365760"/>
          </a:xfrm>
          <a:prstGeom prst="roundRect">
            <a:avLst>
              <a:gd name="adj" fmla="val 45000"/>
            </a:avLst>
          </a:prstGeom>
          <a:solidFill>
            <a:srgbClr val="D8F477"/>
          </a:solidFill>
          <a:ln w="12700">
            <a:solidFill>
              <a:srgbClr val="D8F47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2061972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A77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YOUTH SHARE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2459736"/>
            <a:ext cx="398678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29.9</a:t>
            </a:r>
            <a:endParaRPr lang="en-US" sz="8200" dirty="0"/>
          </a:p>
        </p:txBody>
      </p:sp>
      <p:sp>
        <p:nvSpPr>
          <p:cNvPr id="26" name="Text 24"/>
          <p:cNvSpPr/>
          <p:nvPr/>
        </p:nvSpPr>
        <p:spPr>
          <a:xfrm>
            <a:off x="4315968" y="2916936"/>
            <a:ext cx="850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786D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%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749808" y="39044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천안시 전체인구 대비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2376" y="4590288"/>
            <a:ext cx="4480560" cy="932688"/>
          </a:xfrm>
          <a:prstGeom prst="roundRect">
            <a:avLst>
              <a:gd name="adj" fmla="val 21569"/>
            </a:avLst>
          </a:prstGeom>
          <a:solidFill>
            <a:srgbClr val="E8E5FF"/>
          </a:solidFill>
          <a:ln w="12700">
            <a:solidFill>
              <a:srgbClr val="E8E5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47640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약 19.8만 명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6153912" y="2441448"/>
            <a:ext cx="5312664" cy="758952"/>
          </a:xfrm>
          <a:prstGeom prst="roundRect">
            <a:avLst>
              <a:gd name="adj" fmla="val 27711"/>
            </a:avLst>
          </a:prstGeom>
          <a:solidFill>
            <a:srgbClr val="E4EAFE"/>
          </a:solidFill>
          <a:ln w="12700">
            <a:solidFill>
              <a:srgbClr val="E4EAF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2596896"/>
            <a:ext cx="1243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천안시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699248" y="2724912"/>
            <a:ext cx="2770632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99248" y="2724912"/>
            <a:ext cx="2510361" cy="164592"/>
          </a:xfrm>
          <a:prstGeom prst="roundRect">
            <a:avLst>
              <a:gd name="adj" fmla="val 44444"/>
            </a:avLst>
          </a:prstGeom>
          <a:solidFill>
            <a:srgbClr val="3D58E8"/>
          </a:solidFill>
          <a:ln w="12700">
            <a:solidFill>
              <a:srgbClr val="3D58E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0" y="260604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29.9%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153912" y="3401568"/>
            <a:ext cx="5312664" cy="758952"/>
          </a:xfrm>
          <a:prstGeom prst="roundRect">
            <a:avLst>
              <a:gd name="adj" fmla="val 27711"/>
            </a:avLst>
          </a:prstGeom>
          <a:solidFill>
            <a:srgbClr val="F7F9FF"/>
          </a:solidFill>
          <a:ln w="12700">
            <a:solidFill>
              <a:srgbClr val="F7F9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3557016"/>
            <a:ext cx="1243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전국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699248" y="3685032"/>
            <a:ext cx="2770632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9248" y="3685032"/>
            <a:ext cx="2191318" cy="164592"/>
          </a:xfrm>
          <a:prstGeom prst="roundRect">
            <a:avLst>
              <a:gd name="adj" fmla="val 44444"/>
            </a:avLst>
          </a:prstGeom>
          <a:solidFill>
            <a:srgbClr val="70D8F9"/>
          </a:solidFill>
          <a:ln w="12700">
            <a:solidFill>
              <a:srgbClr val="70D8F9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5600" y="356616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26.1%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6153912" y="4361688"/>
            <a:ext cx="5312664" cy="758952"/>
          </a:xfrm>
          <a:prstGeom prst="roundRect">
            <a:avLst>
              <a:gd name="adj" fmla="val 27711"/>
            </a:avLst>
          </a:prstGeom>
          <a:solidFill>
            <a:srgbClr val="F7F9FF"/>
          </a:solidFill>
          <a:ln w="12700">
            <a:solidFill>
              <a:srgbClr val="F7F9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5936" y="4517136"/>
            <a:ext cx="1243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충청남도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699248" y="4645152"/>
            <a:ext cx="2770632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99248" y="4645152"/>
            <a:ext cx="1989818" cy="164592"/>
          </a:xfrm>
          <a:prstGeom prst="roundRect">
            <a:avLst>
              <a:gd name="adj" fmla="val 44444"/>
            </a:avLst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15600" y="452628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23.7%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6446520" y="5541264"/>
            <a:ext cx="2167128" cy="365760"/>
          </a:xfrm>
          <a:prstGeom prst="roundRect">
            <a:avLst>
              <a:gd name="adj" fmla="val 45000"/>
            </a:avLst>
          </a:prstGeom>
          <a:solidFill>
            <a:srgbClr val="DDF7DF"/>
          </a:solidFill>
          <a:ln w="12700">
            <a:solidFill>
              <a:srgbClr val="DDF7D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92824" y="5591556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8D92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전국 대비  +3.8%p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833104" y="5541264"/>
            <a:ext cx="2148840" cy="365760"/>
          </a:xfrm>
          <a:prstGeom prst="roundRect">
            <a:avLst>
              <a:gd name="adj" fmla="val 45000"/>
            </a:avLst>
          </a:prstGeom>
          <a:solidFill>
            <a:srgbClr val="FFE9DC"/>
          </a:solidFill>
          <a:ln w="12700">
            <a:solidFill>
              <a:srgbClr val="FFE9DC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79408" y="5591556"/>
            <a:ext cx="1856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충남 대비  +6.2%p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38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CHEONAN  /  YOUTH POLICY 2026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009376" y="228600"/>
            <a:ext cx="557784" cy="557784"/>
          </a:xfrm>
          <a:prstGeom prst="ellipse">
            <a:avLst/>
          </a:prstGeom>
          <a:solidFill>
            <a:srgbClr val="21334C"/>
          </a:solidFill>
          <a:ln w="12700">
            <a:solidFill>
              <a:srgbClr val="2133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8248" y="3474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877824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청년의 중심축은 25~34세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676656" y="15544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연령별 청년인구 구성  |  2025년 5월 말 기준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6492240"/>
            <a:ext cx="10881360" cy="0"/>
          </a:xfrm>
          <a:prstGeom prst="line">
            <a:avLst/>
          </a:prstGeom>
          <a:noFill/>
          <a:ln w="8890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47104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출처: 천안시 2025 청년통계 조사(2026.1.2 보도)</a:t>
            </a:r>
            <a:endParaRPr lang="en-US" sz="715" dirty="0"/>
          </a:p>
        </p:txBody>
      </p:sp>
      <p:sp>
        <p:nvSpPr>
          <p:cNvPr id="9" name="Text 7"/>
          <p:cNvSpPr/>
          <p:nvPr/>
        </p:nvSpPr>
        <p:spPr>
          <a:xfrm>
            <a:off x="10716768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03 /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85800" y="2029968"/>
            <a:ext cx="3310128" cy="3813048"/>
          </a:xfrm>
          <a:prstGeom prst="roundRect">
            <a:avLst>
              <a:gd name="adj" fmla="val 11050"/>
            </a:avLst>
          </a:prstGeom>
          <a:solidFill>
            <a:srgbClr val="D8F477"/>
          </a:solidFill>
          <a:ln w="12700">
            <a:solidFill>
              <a:srgbClr val="D8F47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432304"/>
            <a:ext cx="28620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243A77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30–34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033272" y="3502152"/>
            <a:ext cx="2660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최다 구간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050792"/>
            <a:ext cx="2697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50,460명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3026664" y="49834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99816" y="506577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0" descr="/mnt/data/cheonan_policy_bright/asset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2353" y="5158313"/>
            <a:ext cx="217261" cy="217261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297680" y="2103120"/>
            <a:ext cx="7178040" cy="60350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80560" y="2231136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18–19세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79592" y="2331720"/>
            <a:ext cx="4151376" cy="155448"/>
          </a:xfrm>
          <a:prstGeom prst="roundRect">
            <a:avLst>
              <a:gd name="adj" fmla="val 41176"/>
            </a:avLst>
          </a:prstGeom>
          <a:solidFill>
            <a:srgbClr val="E4EAFE"/>
          </a:solidFill>
          <a:ln w="12700">
            <a:solidFill>
              <a:srgbClr val="E4EAFE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79592" y="2331720"/>
            <a:ext cx="991349" cy="155448"/>
          </a:xfrm>
          <a:prstGeom prst="roundRect">
            <a:avLst>
              <a:gd name="adj" fmla="val 41176"/>
            </a:avLst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22992" y="22128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13,134명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297680" y="2834640"/>
            <a:ext cx="7178040" cy="60350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80560" y="2962656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20–24세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879592" y="3063240"/>
            <a:ext cx="4151376" cy="155448"/>
          </a:xfrm>
          <a:prstGeom prst="roundRect">
            <a:avLst>
              <a:gd name="adj" fmla="val 41176"/>
            </a:avLst>
          </a:prstGeom>
          <a:solidFill>
            <a:srgbClr val="E4EAFE"/>
          </a:solidFill>
          <a:ln w="12700">
            <a:solidFill>
              <a:srgbClr val="E4EAFE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79592" y="3063240"/>
            <a:ext cx="2961818" cy="155448"/>
          </a:xfrm>
          <a:prstGeom prst="roundRect">
            <a:avLst>
              <a:gd name="adj" fmla="val 41176"/>
            </a:avLst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222992" y="29443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39,240명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297680" y="3566160"/>
            <a:ext cx="7178040" cy="60350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80560" y="3694176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25–29세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879592" y="3794760"/>
            <a:ext cx="4151376" cy="155448"/>
          </a:xfrm>
          <a:prstGeom prst="roundRect">
            <a:avLst>
              <a:gd name="adj" fmla="val 41176"/>
            </a:avLst>
          </a:prstGeom>
          <a:solidFill>
            <a:srgbClr val="E4EAFE"/>
          </a:solidFill>
          <a:ln w="12700">
            <a:solidFill>
              <a:srgbClr val="E4EAFE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79592" y="3794760"/>
            <a:ext cx="3583317" cy="155448"/>
          </a:xfrm>
          <a:prstGeom prst="roundRect">
            <a:avLst>
              <a:gd name="adj" fmla="val 41176"/>
            </a:avLst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222992" y="367588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47,474명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297680" y="4297680"/>
            <a:ext cx="7178040" cy="603504"/>
          </a:xfrm>
          <a:prstGeom prst="roundRect">
            <a:avLst>
              <a:gd name="adj" fmla="val 33333"/>
            </a:avLst>
          </a:prstGeom>
          <a:solidFill>
            <a:srgbClr val="E8E5FF"/>
          </a:solidFill>
          <a:ln w="12700">
            <a:solidFill>
              <a:srgbClr val="E8E5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80560" y="4425696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30–34세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879592" y="4526280"/>
            <a:ext cx="4151376" cy="155448"/>
          </a:xfrm>
          <a:prstGeom prst="roundRect">
            <a:avLst>
              <a:gd name="adj" fmla="val 41176"/>
            </a:avLst>
          </a:prstGeom>
          <a:solidFill>
            <a:srgbClr val="E4EAFE"/>
          </a:solidFill>
          <a:ln w="12700">
            <a:solidFill>
              <a:srgbClr val="E4EAFE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879592" y="4526280"/>
            <a:ext cx="3808699" cy="155448"/>
          </a:xfrm>
          <a:prstGeom prst="roundRect">
            <a:avLst>
              <a:gd name="adj" fmla="val 41176"/>
            </a:avLst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222992" y="44074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50,460명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297680" y="5029200"/>
            <a:ext cx="7178040" cy="60350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480560" y="5157216"/>
            <a:ext cx="13167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35–39세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879592" y="5257800"/>
            <a:ext cx="4151376" cy="155448"/>
          </a:xfrm>
          <a:prstGeom prst="roundRect">
            <a:avLst>
              <a:gd name="adj" fmla="val 41176"/>
            </a:avLst>
          </a:prstGeom>
          <a:solidFill>
            <a:srgbClr val="E4EAFE"/>
          </a:solidFill>
          <a:ln w="12700">
            <a:solidFill>
              <a:srgbClr val="E4EAFE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879592" y="5257800"/>
            <a:ext cx="3567466" cy="155448"/>
          </a:xfrm>
          <a:prstGeom prst="roundRect">
            <a:avLst>
              <a:gd name="adj" fmla="val 41176"/>
            </a:avLst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222992" y="51389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47,264명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1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38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CHEONAN  /  YOUTH POLICY 2026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009376" y="228600"/>
            <a:ext cx="557784" cy="557784"/>
          </a:xfrm>
          <a:prstGeom prst="ellipse">
            <a:avLst/>
          </a:prstGeom>
          <a:solidFill>
            <a:srgbClr val="21334C"/>
          </a:solidFill>
          <a:ln w="12700">
            <a:solidFill>
              <a:srgbClr val="2133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8248" y="3474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정책 방향은 ‘성장–자립–정착–참여’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052560" y="1170432"/>
            <a:ext cx="2834640" cy="2834640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0776" y="3502152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394960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5596128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5797296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5394960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5596128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5797296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8992" y="5394960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5596128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5797296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5394960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5596128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5797296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1328" y="5394960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1328" y="5596128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5797296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82496" y="5394960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82496" y="5596128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82496" y="5797296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83664" y="5394960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83664" y="5596128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83664" y="5797296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84832" y="5394960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84832" y="5596128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84832" y="5797296"/>
            <a:ext cx="64008" cy="64008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1874520"/>
            <a:ext cx="596188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951</a:t>
            </a:r>
            <a:endParaRPr lang="en-US" sz="10600" dirty="0"/>
          </a:p>
        </p:txBody>
      </p:sp>
      <p:sp>
        <p:nvSpPr>
          <p:cNvPr id="33" name="Text 31"/>
          <p:cNvSpPr/>
          <p:nvPr/>
        </p:nvSpPr>
        <p:spPr>
          <a:xfrm>
            <a:off x="5669280" y="2843784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억 원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795528" y="3886200"/>
            <a:ext cx="66202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2026 청년정책 시행계획 규모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046720" y="2011680"/>
            <a:ext cx="3429000" cy="1380744"/>
          </a:xfrm>
          <a:prstGeom prst="roundRect">
            <a:avLst>
              <a:gd name="adj" fmla="val 2317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48472" y="2276856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80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10094976" y="2414016"/>
            <a:ext cx="9692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개 사업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8046720" y="3639312"/>
            <a:ext cx="3429000" cy="1380744"/>
          </a:xfrm>
          <a:prstGeom prst="roundRect">
            <a:avLst>
              <a:gd name="adj" fmla="val 23179"/>
            </a:avLst>
          </a:prstGeom>
          <a:solidFill>
            <a:srgbClr val="E8E5FF"/>
          </a:solidFill>
          <a:ln w="12700">
            <a:solidFill>
              <a:srgbClr val="E8E5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57616" y="390448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786D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5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10094976" y="4059936"/>
            <a:ext cx="10241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개 분야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758952" y="5522976"/>
            <a:ext cx="1764792" cy="521208"/>
          </a:xfrm>
          <a:prstGeom prst="roundRect">
            <a:avLst>
              <a:gd name="adj" fmla="val 4035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44" y="56235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성장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2752344" y="5522976"/>
            <a:ext cx="1764792" cy="521208"/>
          </a:xfrm>
          <a:prstGeom prst="roundRect">
            <a:avLst>
              <a:gd name="adj" fmla="val 4035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16936" y="56235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자립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745736" y="5522976"/>
            <a:ext cx="1764792" cy="521208"/>
          </a:xfrm>
          <a:prstGeom prst="roundRect">
            <a:avLst>
              <a:gd name="adj" fmla="val 4035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0328" y="56235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정착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739128" y="5522976"/>
            <a:ext cx="1764792" cy="521208"/>
          </a:xfrm>
          <a:prstGeom prst="roundRect">
            <a:avLst>
              <a:gd name="adj" fmla="val 4035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56235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86D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참여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58368" y="6492240"/>
            <a:ext cx="10881360" cy="0"/>
          </a:xfrm>
          <a:prstGeom prst="line">
            <a:avLst/>
          </a:prstGeom>
          <a:noFill/>
          <a:ln w="8890">
            <a:solidFill>
              <a:srgbClr val="E7EA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" y="6547104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억 원</a:t>
            </a:r>
            <a:endParaRPr lang="en-US" sz="715" dirty="0"/>
          </a:p>
        </p:txBody>
      </p:sp>
      <p:sp>
        <p:nvSpPr>
          <p:cNvPr id="51" name="Text 49"/>
          <p:cNvSpPr/>
          <p:nvPr/>
        </p:nvSpPr>
        <p:spPr>
          <a:xfrm>
            <a:off x="10716768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38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CHEONAN  /  YOUTH POLICY 2026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009376" y="228600"/>
            <a:ext cx="557784" cy="557784"/>
          </a:xfrm>
          <a:prstGeom prst="ellipse">
            <a:avLst/>
          </a:prstGeom>
          <a:solidFill>
            <a:srgbClr val="21334C"/>
          </a:solidFill>
          <a:ln w="12700">
            <a:solidFill>
              <a:srgbClr val="2133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8248" y="3474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877824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취업 지원은 ‘다시 도전 → 현장 안착’까지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676656" y="15544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구직 회복부터 채용, 직장 적응까지 단계별 프로그램 운영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6492240"/>
            <a:ext cx="10881360" cy="0"/>
          </a:xfrm>
          <a:prstGeom prst="line">
            <a:avLst/>
          </a:prstGeom>
          <a:noFill/>
          <a:ln w="8890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47104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출처: 천안시 2026 시행계획 · 천안청년센터이음 · 천안시의회 2026.10.26</a:t>
            </a:r>
            <a:endParaRPr lang="en-US" sz="715" dirty="0"/>
          </a:p>
        </p:txBody>
      </p:sp>
      <p:sp>
        <p:nvSpPr>
          <p:cNvPr id="9" name="Text 7"/>
          <p:cNvSpPr/>
          <p:nvPr/>
        </p:nvSpPr>
        <p:spPr>
          <a:xfrm>
            <a:off x="10716768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05 /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499616" y="3246120"/>
            <a:ext cx="9345168" cy="0"/>
          </a:xfrm>
          <a:prstGeom prst="line">
            <a:avLst/>
          </a:prstGeom>
          <a:noFill/>
          <a:ln w="76200">
            <a:solidFill>
              <a:srgbClr val="70D8F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40080" y="2185416"/>
            <a:ext cx="2688336" cy="2944368"/>
          </a:xfrm>
          <a:prstGeom prst="roundRect">
            <a:avLst>
              <a:gd name="adj" fmla="val 12245"/>
            </a:avLst>
          </a:prstGeom>
          <a:solidFill>
            <a:srgbClr val="DAF4FF"/>
          </a:solidFill>
          <a:ln w="12700">
            <a:solidFill>
              <a:srgbClr val="DAF4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395728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0" descr="/mnt/data/cheonan_policy_bright/asset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725" y="2574493"/>
            <a:ext cx="419710" cy="41971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660904" y="249631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1248" y="34472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구직 의욕 회복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50392" y="4151376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청년도전지원사업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575304" y="2496312"/>
            <a:ext cx="2688336" cy="2944368"/>
          </a:xfrm>
          <a:prstGeom prst="roundRect">
            <a:avLst>
              <a:gd name="adj" fmla="val 12245"/>
            </a:avLst>
          </a:prstGeom>
          <a:solidFill>
            <a:srgbClr val="E8E5FF"/>
          </a:solidFill>
          <a:ln w="12700">
            <a:solidFill>
              <a:srgbClr val="E8E5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58184" y="2706624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1" descr="/mnt/data/cheonan_policy_bright/assets/gradu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949" y="2885389"/>
            <a:ext cx="419710" cy="41971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96128" y="28072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776472" y="3758184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취업 준비</a:t>
            </a:r>
            <a:endParaRPr lang="en-US" sz="2100" dirty="0"/>
          </a:p>
        </p:txBody>
      </p:sp>
      <p:sp>
        <p:nvSpPr>
          <p:cNvPr id="22" name="Text 18"/>
          <p:cNvSpPr/>
          <p:nvPr/>
        </p:nvSpPr>
        <p:spPr>
          <a:xfrm>
            <a:off x="3785616" y="4462272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취업패키지·실무교육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510528" y="2185416"/>
            <a:ext cx="2688336" cy="2944368"/>
          </a:xfrm>
          <a:prstGeom prst="roundRect">
            <a:avLst>
              <a:gd name="adj" fmla="val 12245"/>
            </a:avLst>
          </a:prstGeom>
          <a:solidFill>
            <a:srgbClr val="DDF7DF"/>
          </a:solidFill>
          <a:ln w="12700">
            <a:solidFill>
              <a:srgbClr val="DDF7D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693408" y="2395728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2" descr="/mnt/data/cheonan_policy_bright/assets/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173" y="2574493"/>
            <a:ext cx="419710" cy="41971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531352" y="249631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03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711696" y="34472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채용 연결</a:t>
            </a:r>
            <a:endParaRPr lang="en-US" sz="2100" dirty="0"/>
          </a:p>
        </p:txBody>
      </p:sp>
      <p:sp>
        <p:nvSpPr>
          <p:cNvPr id="28" name="Text 23"/>
          <p:cNvSpPr/>
          <p:nvPr/>
        </p:nvSpPr>
        <p:spPr>
          <a:xfrm>
            <a:off x="6720840" y="4151376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채용연계·일자리매칭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445752" y="2496312"/>
            <a:ext cx="2688336" cy="2944368"/>
          </a:xfrm>
          <a:prstGeom prst="roundRect">
            <a:avLst>
              <a:gd name="adj" fmla="val 12245"/>
            </a:avLst>
          </a:prstGeom>
          <a:solidFill>
            <a:srgbClr val="FFE9DC"/>
          </a:solidFill>
          <a:ln w="12700">
            <a:solidFill>
              <a:srgbClr val="FFE9DC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628632" y="2706624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3" descr="/mnt/data/cheonan_policy_bright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7397" y="2885389"/>
            <a:ext cx="419710" cy="41971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466576" y="28072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04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646920" y="3758184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직장 안착</a:t>
            </a:r>
            <a:endParaRPr lang="en-US" sz="2100" dirty="0"/>
          </a:p>
        </p:txBody>
      </p:sp>
      <p:sp>
        <p:nvSpPr>
          <p:cNvPr id="34" name="Text 28"/>
          <p:cNvSpPr/>
          <p:nvPr/>
        </p:nvSpPr>
        <p:spPr>
          <a:xfrm>
            <a:off x="9656064" y="4462272"/>
            <a:ext cx="23042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온보딩데이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1225296" y="5559552"/>
            <a:ext cx="9747504" cy="521208"/>
          </a:xfrm>
          <a:prstGeom prst="roundRect">
            <a:avLst>
              <a:gd name="adj" fmla="val 45614"/>
            </a:avLst>
          </a:prstGeom>
          <a:solidFill>
            <a:srgbClr val="D8F477"/>
          </a:solidFill>
          <a:ln w="12700">
            <a:solidFill>
              <a:srgbClr val="D8F477">
                <a:alpha val="0"/>
              </a:srgbClr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453896" y="5641848"/>
            <a:ext cx="9253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2026년 청년도전지원사업 모집 규모 260명(계획)  ·  사업별 지원대상과 신청 조건은 별도 확인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38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CHEONAN  /  YOUTH POLICY 2026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009376" y="228600"/>
            <a:ext cx="557784" cy="557784"/>
          </a:xfrm>
          <a:prstGeom prst="ellipse">
            <a:avLst/>
          </a:prstGeom>
          <a:solidFill>
            <a:srgbClr val="21334C"/>
          </a:solidFill>
          <a:ln w="12700">
            <a:solidFill>
              <a:srgbClr val="2133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8248" y="3474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877824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대학과 산업을 연결해 청년의 기회를 넓히다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15544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지역 혁신생태계와 청년 성장 지원의 접점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6492240"/>
            <a:ext cx="10881360" cy="0"/>
          </a:xfrm>
          <a:prstGeom prst="line">
            <a:avLst/>
          </a:prstGeom>
          <a:noFill/>
          <a:ln w="8890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47104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15" dirty="0"/>
          </a:p>
        </p:txBody>
      </p:sp>
      <p:sp>
        <p:nvSpPr>
          <p:cNvPr id="9" name="Text 7"/>
          <p:cNvSpPr/>
          <p:nvPr/>
        </p:nvSpPr>
        <p:spPr>
          <a:xfrm>
            <a:off x="10716768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06 /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76656" y="2194560"/>
            <a:ext cx="3099816" cy="3621024"/>
          </a:xfrm>
          <a:prstGeom prst="roundRect">
            <a:avLst>
              <a:gd name="adj" fmla="val 11799"/>
            </a:avLst>
          </a:prstGeom>
          <a:solidFill>
            <a:srgbClr val="DAF4FF"/>
          </a:solidFill>
          <a:ln w="12700">
            <a:solidFill>
              <a:srgbClr val="DAF4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3957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5146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9264" y="2569464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0" descr="/mnt/data/cheonan_policy_bright/assets/gradu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607" y="2800807"/>
            <a:ext cx="543154" cy="54315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87552" y="38130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교육·지역연계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7552" y="42976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RISE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987552" y="5084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지역혁신중심 대학지원체계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35424" y="2194560"/>
            <a:ext cx="3099816" cy="3621024"/>
          </a:xfrm>
          <a:prstGeom prst="roundRect">
            <a:avLst>
              <a:gd name="adj" fmla="val 11799"/>
            </a:avLst>
          </a:prstGeom>
          <a:solidFill>
            <a:srgbClr val="E8E5FF"/>
          </a:solidFill>
          <a:ln w="12700">
            <a:solidFill>
              <a:srgbClr val="E8E5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76288" y="23957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95160" y="25146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28032" y="2569464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1" descr="/mnt/data/cheonan_policy_bright/asset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375" y="2800807"/>
            <a:ext cx="543154" cy="54315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846320" y="38130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청년 창업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846320" y="42976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그린스타트업타운</a:t>
            </a:r>
            <a:endParaRPr lang="en-US" sz="1900" dirty="0"/>
          </a:p>
        </p:txBody>
      </p:sp>
      <p:sp>
        <p:nvSpPr>
          <p:cNvPr id="25" name="Text 21"/>
          <p:cNvSpPr/>
          <p:nvPr/>
        </p:nvSpPr>
        <p:spPr>
          <a:xfrm>
            <a:off x="4846320" y="5084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창업·사업화 기반 강화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375904" y="2194560"/>
            <a:ext cx="3099816" cy="3621024"/>
          </a:xfrm>
          <a:prstGeom prst="roundRect">
            <a:avLst>
              <a:gd name="adj" fmla="val 11799"/>
            </a:avLst>
          </a:prstGeom>
          <a:solidFill>
            <a:srgbClr val="DDF7DF"/>
          </a:solidFill>
          <a:ln w="12700">
            <a:solidFill>
              <a:srgbClr val="DDF7D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716768" y="23957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835640" y="25146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C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8668512" y="2569464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2" descr="/mnt/data/cheonan_policy_bright/assets/seedl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855" y="2800807"/>
            <a:ext cx="543154" cy="54315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686800" y="38130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미래 농업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686800" y="42976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청년 스마트팜</a:t>
            </a:r>
            <a:endParaRPr lang="en-US" sz="2300" dirty="0"/>
          </a:p>
        </p:txBody>
      </p:sp>
      <p:sp>
        <p:nvSpPr>
          <p:cNvPr id="33" name="Text 28"/>
          <p:cNvSpPr/>
          <p:nvPr/>
        </p:nvSpPr>
        <p:spPr>
          <a:xfrm>
            <a:off x="8686800" y="5084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자립형 영농 정착 지원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5806440" y="6089904"/>
            <a:ext cx="109728" cy="10972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025896" y="6181344"/>
            <a:ext cx="109728" cy="10972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245352" y="6089904"/>
            <a:ext cx="109728" cy="10972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464808" y="6181344"/>
            <a:ext cx="109728" cy="10972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684264" y="6089904"/>
            <a:ext cx="109728" cy="10972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903720" y="6181344"/>
            <a:ext cx="109728" cy="109728"/>
          </a:xfrm>
          <a:prstGeom prst="ellipse">
            <a:avLst/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38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CHEONAN  /  YOUTH POLICY 2026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009376" y="228600"/>
            <a:ext cx="557784" cy="557784"/>
          </a:xfrm>
          <a:prstGeom prst="ellipse">
            <a:avLst/>
          </a:prstGeom>
          <a:solidFill>
            <a:srgbClr val="21334C"/>
          </a:solidFill>
          <a:ln w="12700">
            <a:solidFill>
              <a:srgbClr val="2133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8248" y="3474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877824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주거 안정과 마음 돌봄이 정착을 뒷받침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676656" y="15544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생활 기반의 불안을 줄이는 밀착형 지원 확대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6492240"/>
            <a:ext cx="10881360" cy="0"/>
          </a:xfrm>
          <a:prstGeom prst="line">
            <a:avLst/>
          </a:prstGeom>
          <a:noFill/>
          <a:ln w="8890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47104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출처: 천안시 2026 청년정책 시행계획(2026.2.20)</a:t>
            </a:r>
            <a:endParaRPr lang="en-US" sz="715" dirty="0"/>
          </a:p>
        </p:txBody>
      </p:sp>
      <p:sp>
        <p:nvSpPr>
          <p:cNvPr id="9" name="Text 7"/>
          <p:cNvSpPr/>
          <p:nvPr/>
        </p:nvSpPr>
        <p:spPr>
          <a:xfrm>
            <a:off x="10716768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07 /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2029968"/>
            <a:ext cx="3584448" cy="117043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231136"/>
            <a:ext cx="740664" cy="740664"/>
          </a:xfrm>
          <a:prstGeom prst="ellipse">
            <a:avLst/>
          </a:prstGeom>
          <a:solidFill>
            <a:srgbClr val="DAF4FF"/>
          </a:solidFill>
          <a:ln w="12700">
            <a:solidFill>
              <a:srgbClr val="DAF4FF">
                <a:alpha val="0"/>
              </a:srgbClr>
            </a:solidFill>
            <a:prstDash val="solid"/>
          </a:ln>
        </p:spPr>
      </p:sp>
      <p:pic>
        <p:nvPicPr>
          <p:cNvPr id="12" name="Image 0" descr="/mnt/data/cheonan_policy_bright/assets/h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041" y="2401489"/>
            <a:ext cx="399959" cy="39995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01368" y="2240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행복주택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801368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공공주택 공급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0" y="2029968"/>
            <a:ext cx="3584448" cy="117043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65008" y="2231136"/>
            <a:ext cx="740664" cy="740664"/>
          </a:xfrm>
          <a:prstGeom prst="ellipse">
            <a:avLst/>
          </a:prstGeom>
          <a:solidFill>
            <a:srgbClr val="E8E5FF"/>
          </a:solidFill>
          <a:ln w="12700">
            <a:solidFill>
              <a:srgbClr val="E8E5FF">
                <a:alpha val="0"/>
              </a:srgbClr>
            </a:solidFill>
            <a:prstDash val="solid"/>
          </a:ln>
        </p:spPr>
      </p:sp>
      <p:pic>
        <p:nvPicPr>
          <p:cNvPr id="17" name="Image 1" descr="/mnt/data/cheonan_policy_bright/assets/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361" y="2401489"/>
            <a:ext cx="399959" cy="39995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933688" y="2240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월세·주거급여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8933688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주거비 부담 완화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31520" y="4434840"/>
            <a:ext cx="3584448" cy="117043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32688" y="4636008"/>
            <a:ext cx="740664" cy="740664"/>
          </a:xfrm>
          <a:prstGeom prst="ellipse">
            <a:avLst/>
          </a:prstGeom>
          <a:solidFill>
            <a:srgbClr val="FFE16E"/>
          </a:solidFill>
          <a:ln w="12700">
            <a:solidFill>
              <a:srgbClr val="FFE16E">
                <a:alpha val="0"/>
              </a:srgbClr>
            </a:solidFill>
            <a:prstDash val="solid"/>
          </a:ln>
        </p:spPr>
      </p:sp>
      <p:pic>
        <p:nvPicPr>
          <p:cNvPr id="22" name="Image 2" descr="/mnt/data/cheonan_policy_bright/asset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41" y="4806361"/>
            <a:ext cx="399959" cy="39995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01368" y="46451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청년 1인 가구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1801368" y="5074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생활밀착 지원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863840" y="4434840"/>
            <a:ext cx="3584448" cy="117043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065008" y="4636008"/>
            <a:ext cx="740664" cy="740664"/>
          </a:xfrm>
          <a:prstGeom prst="ellipse">
            <a:avLst/>
          </a:prstGeom>
          <a:solidFill>
            <a:srgbClr val="FFE9DC"/>
          </a:solidFill>
          <a:ln w="12700">
            <a:solidFill>
              <a:srgbClr val="FFE9DC">
                <a:alpha val="0"/>
              </a:srgbClr>
            </a:solidFill>
            <a:prstDash val="solid"/>
          </a:ln>
        </p:spPr>
      </p:sp>
      <p:pic>
        <p:nvPicPr>
          <p:cNvPr id="27" name="Image 3" descr="/mnt/data/cheonan_policy_bright/assets/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361" y="4806361"/>
            <a:ext cx="399959" cy="39995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33688" y="46451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청년 마음돌봄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8933688" y="5074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정서·건강 지원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553712" y="2194560"/>
            <a:ext cx="3200400" cy="3200400"/>
          </a:xfrm>
          <a:prstGeom prst="ellipse">
            <a:avLst/>
          </a:prstGeom>
          <a:solidFill>
            <a:srgbClr val="FFE16E"/>
          </a:solidFill>
          <a:ln w="12700">
            <a:solidFill>
              <a:srgbClr val="FFE16E">
                <a:alpha val="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910328" y="2560320"/>
            <a:ext cx="2459736" cy="2459736"/>
          </a:xfrm>
          <a:prstGeom prst="ellipse">
            <a:avLst/>
          </a:prstGeom>
          <a:solidFill>
            <a:srgbClr val="FFFBF3"/>
          </a:solidFill>
          <a:ln w="12700">
            <a:solidFill>
              <a:srgbClr val="FFFBF3">
                <a:alpha val="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202936" y="2834640"/>
            <a:ext cx="1920240" cy="1920240"/>
          </a:xfrm>
          <a:prstGeom prst="ellipse">
            <a:avLst/>
          </a:prstGeom>
          <a:solidFill>
            <a:srgbClr val="3D58E8"/>
          </a:solidFill>
          <a:ln w="12700">
            <a:solidFill>
              <a:srgbClr val="3D58E8">
                <a:alpha val="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550408" y="3346704"/>
            <a:ext cx="1216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지역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정착</a:t>
            </a:r>
            <a:endParaRPr lang="en-US" sz="2800" dirty="0"/>
          </a:p>
        </p:txBody>
      </p:sp>
      <p:sp>
        <p:nvSpPr>
          <p:cNvPr id="34" name="Shape 28"/>
          <p:cNvSpPr/>
          <p:nvPr/>
        </p:nvSpPr>
        <p:spPr>
          <a:xfrm>
            <a:off x="4992624" y="5815584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992624" y="5971032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992624" y="6126480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148072" y="5815584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148072" y="5971032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148072" y="6126480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5303520" y="5815584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5303520" y="5971032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5303520" y="6126480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5458968" y="5815584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5458968" y="5971032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5458968" y="6126480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5614416" y="5815584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5614416" y="5971032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5614416" y="6126480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5769864" y="5815584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5769864" y="5971032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5769864" y="6126480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5925312" y="5815584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5925312" y="5971032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5925312" y="6126480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6080760" y="5815584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6080760" y="5971032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6080760" y="6126480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6236208" y="5815584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6236208" y="5971032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6236208" y="6126480"/>
            <a:ext cx="64008" cy="64008"/>
          </a:xfrm>
          <a:prstGeom prst="ellipse">
            <a:avLst/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38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CHEONAN  /  YOUTH POLICY 2026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009376" y="228600"/>
            <a:ext cx="557784" cy="557784"/>
          </a:xfrm>
          <a:prstGeom prst="ellipse">
            <a:avLst/>
          </a:prstGeom>
          <a:solidFill>
            <a:srgbClr val="21334C"/>
          </a:solidFill>
          <a:ln w="12700">
            <a:solidFill>
              <a:srgbClr val="2133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8248" y="3474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877824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정량 성과는 구직단념 청년의 취·창업에서 확인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15544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확인 가능한 실적과 향후 참여계획은 구분해 제시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6492240"/>
            <a:ext cx="10881360" cy="0"/>
          </a:xfrm>
          <a:prstGeom prst="line">
            <a:avLst/>
          </a:prstGeom>
          <a:noFill/>
          <a:ln w="8890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47104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출처: 뉴시스(2025.9.5) · 천안시 2026 청년도전지원사업 모집(2026.1)</a:t>
            </a:r>
            <a:endParaRPr lang="en-US" sz="715" dirty="0"/>
          </a:p>
        </p:txBody>
      </p:sp>
      <p:sp>
        <p:nvSpPr>
          <p:cNvPr id="9" name="Text 7"/>
          <p:cNvSpPr/>
          <p:nvPr/>
        </p:nvSpPr>
        <p:spPr>
          <a:xfrm>
            <a:off x="10716768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08 /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76656" y="2039112"/>
            <a:ext cx="5614416" cy="3995928"/>
          </a:xfrm>
          <a:prstGeom prst="roundRect">
            <a:avLst>
              <a:gd name="adj" fmla="val 9840"/>
            </a:avLst>
          </a:prstGeom>
          <a:solidFill>
            <a:srgbClr val="FF786D"/>
          </a:solidFill>
          <a:ln w="12700">
            <a:solidFill>
              <a:srgbClr val="FF786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414016"/>
            <a:ext cx="4937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확인된 성과   ·   2021~2025.8 누적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2834640"/>
            <a:ext cx="4507992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153</a:t>
            </a:r>
            <a:endParaRPr lang="en-US" sz="9300" dirty="0"/>
          </a:p>
        </p:txBody>
      </p:sp>
      <p:sp>
        <p:nvSpPr>
          <p:cNvPr id="13" name="Text 11"/>
          <p:cNvSpPr/>
          <p:nvPr/>
        </p:nvSpPr>
        <p:spPr>
          <a:xfrm>
            <a:off x="4965192" y="3776472"/>
            <a:ext cx="576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명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14984" y="5010912"/>
            <a:ext cx="47365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청년도전지원사업 취·창업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565392" y="2039112"/>
            <a:ext cx="4910328" cy="1517904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4576" y="2295144"/>
            <a:ext cx="4142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2025년 1~8월 취·창업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85432" y="2752344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22명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565392" y="3758184"/>
            <a:ext cx="4910328" cy="2286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3986784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2026년 모집 계획  ·  총 260명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85432" y="4709160"/>
            <a:ext cx="979111" cy="448056"/>
          </a:xfrm>
          <a:prstGeom prst="roundRect">
            <a:avLst>
              <a:gd name="adj" fmla="val 4082"/>
            </a:avLst>
          </a:prstGeom>
          <a:solidFill>
            <a:srgbClr val="3D58E8"/>
          </a:solidFill>
          <a:ln w="12700">
            <a:solidFill>
              <a:srgbClr val="3D58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2008" y="4800600"/>
            <a:ext cx="9059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단기 60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64543" y="4709160"/>
            <a:ext cx="2121408" cy="448056"/>
          </a:xfrm>
          <a:prstGeom prst="roundRect">
            <a:avLst>
              <a:gd name="adj" fmla="val 4082"/>
            </a:avLst>
          </a:prstGeom>
          <a:solidFill>
            <a:srgbClr val="42C9D4"/>
          </a:solidFill>
          <a:ln w="12700">
            <a:solidFill>
              <a:srgbClr val="42C9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1119" y="4800600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중기 130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85951" y="4709160"/>
            <a:ext cx="1142297" cy="448056"/>
          </a:xfrm>
          <a:prstGeom prst="roundRect">
            <a:avLst>
              <a:gd name="adj" fmla="val 4082"/>
            </a:avLst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22527" y="4800600"/>
            <a:ext cx="10691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장기 70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85432" y="5422392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※ 260명은 모집계획이며 실제 취업 성과 수치가 아님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38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CHEONAN  /  YOUTH POLICY 2026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009376" y="228600"/>
            <a:ext cx="557784" cy="557784"/>
          </a:xfrm>
          <a:prstGeom prst="ellipse">
            <a:avLst/>
          </a:prstGeom>
          <a:solidFill>
            <a:srgbClr val="21334C"/>
          </a:solidFill>
          <a:ln w="12700">
            <a:solidFill>
              <a:srgbClr val="2133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8248" y="3474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877824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다음 단계는 ‘연결성과 정책 체감도’ 강화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76656" y="155448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※ 아래는 공개 정책과 현장 논의를 바탕으로 한 발전 제안이며 확정 시행사업이 아님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6492240"/>
            <a:ext cx="10881360" cy="0"/>
          </a:xfrm>
          <a:prstGeom prst="line">
            <a:avLst/>
          </a:prstGeom>
          <a:noFill/>
          <a:ln w="8890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6547104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분석·제안: 2026 시행계획 및 천안시의회 청년정책 질의(2026.10.26)</a:t>
            </a:r>
            <a:endParaRPr lang="en-US" sz="715" dirty="0"/>
          </a:p>
        </p:txBody>
      </p:sp>
      <p:sp>
        <p:nvSpPr>
          <p:cNvPr id="9" name="Text 7"/>
          <p:cNvSpPr/>
          <p:nvPr/>
        </p:nvSpPr>
        <p:spPr>
          <a:xfrm>
            <a:off x="10716768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09 / 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3232" y="1984248"/>
            <a:ext cx="3950208" cy="3657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34540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FUTURE AGENDA  |  정책 발전 제안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" y="2697480"/>
            <a:ext cx="3099816" cy="2990088"/>
          </a:xfrm>
          <a:prstGeom prst="roundRect">
            <a:avLst>
              <a:gd name="adj" fmla="val 11621"/>
            </a:avLst>
          </a:prstGeom>
          <a:solidFill>
            <a:srgbClr val="DAF4FF"/>
          </a:solidFill>
          <a:ln w="12700">
            <a:solidFill>
              <a:srgbClr val="DAF4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017520"/>
            <a:ext cx="9784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01</a:t>
            </a:r>
            <a:endParaRPr lang="en-US" sz="2900" dirty="0"/>
          </a:p>
        </p:txBody>
      </p:sp>
      <p:sp>
        <p:nvSpPr>
          <p:cNvPr id="14" name="Shape 12"/>
          <p:cNvSpPr/>
          <p:nvPr/>
        </p:nvSpPr>
        <p:spPr>
          <a:xfrm>
            <a:off x="2816352" y="2953512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0" descr="/mnt/data/cheonan_policy_bright/assets/magn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8808" y="3125968"/>
            <a:ext cx="404896" cy="4048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87552" y="38679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접근성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1014984" y="452628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사업 탐색부터 신청까지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96696" y="5029200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통합 안내·찾아가는 홍보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44568" y="2697480"/>
            <a:ext cx="3099816" cy="2990088"/>
          </a:xfrm>
          <a:prstGeom prst="roundRect">
            <a:avLst>
              <a:gd name="adj" fmla="val 11621"/>
            </a:avLst>
          </a:prstGeom>
          <a:solidFill>
            <a:srgbClr val="DDF7DF"/>
          </a:solidFill>
          <a:ln w="12700">
            <a:solidFill>
              <a:srgbClr val="DDF7D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3017520"/>
            <a:ext cx="9784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02</a:t>
            </a:r>
            <a:endParaRPr lang="en-US" sz="2900" dirty="0"/>
          </a:p>
        </p:txBody>
      </p:sp>
      <p:sp>
        <p:nvSpPr>
          <p:cNvPr id="21" name="Shape 18"/>
          <p:cNvSpPr/>
          <p:nvPr/>
        </p:nvSpPr>
        <p:spPr>
          <a:xfrm>
            <a:off x="6656832" y="2953512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1" descr="/mnt/data/cheonan_policy_bright/asset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288" y="3125968"/>
            <a:ext cx="404896" cy="404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828032" y="38679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연계성</a:t>
            </a:r>
            <a:endParaRPr lang="en-US" sz="2500" dirty="0"/>
          </a:p>
        </p:txBody>
      </p:sp>
      <p:sp>
        <p:nvSpPr>
          <p:cNvPr id="24" name="Text 20"/>
          <p:cNvSpPr/>
          <p:nvPr/>
        </p:nvSpPr>
        <p:spPr>
          <a:xfrm>
            <a:off x="4855464" y="452628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취업 준비부터 정착까지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837176" y="5029200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지원사업 간 후속 연결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385048" y="2697480"/>
            <a:ext cx="3099816" cy="2990088"/>
          </a:xfrm>
          <a:prstGeom prst="roundRect">
            <a:avLst>
              <a:gd name="adj" fmla="val 11621"/>
            </a:avLst>
          </a:prstGeom>
          <a:solidFill>
            <a:srgbClr val="FFE9DC"/>
          </a:solidFill>
          <a:ln w="12700">
            <a:solidFill>
              <a:srgbClr val="FFE9DC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86800" y="3017520"/>
            <a:ext cx="9784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03</a:t>
            </a:r>
            <a:endParaRPr lang="en-US" sz="2900" dirty="0"/>
          </a:p>
        </p:txBody>
      </p:sp>
      <p:sp>
        <p:nvSpPr>
          <p:cNvPr id="28" name="Shape 24"/>
          <p:cNvSpPr/>
          <p:nvPr/>
        </p:nvSpPr>
        <p:spPr>
          <a:xfrm>
            <a:off x="10497312" y="2953512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2" descr="/mnt/data/cheonan_policy_bright/asset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9768" y="3125968"/>
            <a:ext cx="404896" cy="40489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668512" y="38679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성과관리</a:t>
            </a:r>
            <a:endParaRPr lang="en-US" sz="2500" dirty="0"/>
          </a:p>
        </p:txBody>
      </p:sp>
      <p:sp>
        <p:nvSpPr>
          <p:cNvPr id="31" name="Text 26"/>
          <p:cNvSpPr/>
          <p:nvPr/>
        </p:nvSpPr>
        <p:spPr>
          <a:xfrm>
            <a:off x="8695944" y="452628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단순 참여 수를 넘어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677656" y="5029200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취업 유지·정착률 점검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5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38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CHEONAN  /  YOUTH POLICY 2026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009376" y="228600"/>
            <a:ext cx="557784" cy="557784"/>
          </a:xfrm>
          <a:prstGeom prst="ellipse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8248" y="3474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29400" y="0"/>
            <a:ext cx="5522976" cy="5522976"/>
          </a:xfrm>
          <a:prstGeom prst="ellipse">
            <a:avLst/>
          </a:prstGeom>
          <a:solidFill>
            <a:srgbClr val="70D8F9"/>
          </a:solidFill>
          <a:ln w="12700">
            <a:solidFill>
              <a:srgbClr val="70D8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90304" y="987552"/>
            <a:ext cx="2020824" cy="2020824"/>
          </a:xfrm>
          <a:prstGeom prst="ellipse">
            <a:avLst/>
          </a:prstGeom>
          <a:solidFill>
            <a:srgbClr val="FFE16E"/>
          </a:solidFill>
          <a:ln w="12700">
            <a:solidFill>
              <a:srgbClr val="FFE1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95944" y="3493008"/>
            <a:ext cx="2834640" cy="2834640"/>
          </a:xfrm>
          <a:prstGeom prst="ellipse">
            <a:avLst/>
          </a:prstGeom>
          <a:solidFill>
            <a:srgbClr val="FFAC74"/>
          </a:solidFill>
          <a:ln w="12700">
            <a:solidFill>
              <a:srgbClr val="FFAC7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276088"/>
            <a:ext cx="1014984" cy="1014984"/>
          </a:xfrm>
          <a:prstGeom prst="ellipse">
            <a:avLst/>
          </a:prstGeom>
          <a:solidFill>
            <a:srgbClr val="D8F477"/>
          </a:solidFill>
          <a:ln w="12700">
            <a:solidFill>
              <a:srgbClr val="D8F47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325880"/>
            <a:ext cx="2029968" cy="438912"/>
          </a:xfrm>
          <a:prstGeom prst="roundRect">
            <a:avLst>
              <a:gd name="adj" fmla="val 45833"/>
            </a:avLst>
          </a:prstGeom>
          <a:solidFill>
            <a:srgbClr val="D8F477"/>
          </a:solidFill>
          <a:ln w="12700">
            <a:solidFill>
              <a:srgbClr val="D8F47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2646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CHEONAN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048256"/>
            <a:ext cx="98572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청년이 머물고,</a:t>
            </a:r>
            <a:endParaRPr lang="en-US" sz="4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미래가 자라는 천안</a:t>
            </a:r>
            <a:endParaRPr lang="en-US" sz="4300" dirty="0"/>
          </a:p>
        </p:txBody>
      </p:sp>
      <p:sp>
        <p:nvSpPr>
          <p:cNvPr id="12" name="Shape 10"/>
          <p:cNvSpPr/>
          <p:nvPr/>
        </p:nvSpPr>
        <p:spPr>
          <a:xfrm>
            <a:off x="676656" y="4407408"/>
            <a:ext cx="137160" cy="813816"/>
          </a:xfrm>
          <a:prstGeom prst="rect">
            <a:avLst/>
          </a:prstGeom>
          <a:solidFill>
            <a:srgbClr val="FFE16E"/>
          </a:solidFill>
          <a:ln w="12700">
            <a:solidFill>
              <a:srgbClr val="FFE1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443984"/>
            <a:ext cx="846734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지원의 양적 확대를 넘어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삶의 단계가 연결되는 청년정책으로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4944" y="5733288"/>
            <a:ext cx="2999232" cy="612648"/>
          </a:xfrm>
          <a:prstGeom prst="roundRect">
            <a:avLst>
              <a:gd name="adj" fmla="val 343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5852160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29.9%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03120" y="5897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청년인구 비중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41064" y="5733288"/>
            <a:ext cx="2999232" cy="612648"/>
          </a:xfrm>
          <a:prstGeom prst="roundRect">
            <a:avLst>
              <a:gd name="adj" fmla="val 343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05656" y="5852160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80개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49240" y="5897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2026 정책사업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87184" y="5733288"/>
            <a:ext cx="2999232" cy="612648"/>
          </a:xfrm>
          <a:prstGeom prst="roundRect">
            <a:avLst>
              <a:gd name="adj" fmla="val 343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5852160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D58E8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951억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95360" y="5897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1334C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2026 계획 규모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" y="65562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anumSquareRound" pitchFamily="34" charset="0"/>
                <a:ea typeface="NanumSquareRound" pitchFamily="34" charset="-122"/>
                <a:cs typeface="NanumSquareRound" pitchFamily="34" charset="-120"/>
              </a:rPr>
              <a:t>2026 POLICY BRIEF  /  CHEONAN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Rou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Rou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Cheonan Youth Policy - Bright</dc:title>
  <dc:subject>2026 Cheonan youth policy bright redesign</dc:subject>
  <dc:creator>OpenAI</dc:creator>
  <cp:lastModifiedBy>OpenAI</cp:lastModifiedBy>
  <cp:revision>1</cp:revision>
  <dcterms:created xsi:type="dcterms:W3CDTF">2026-10-30T06:03:44Z</dcterms:created>
  <dcterms:modified xsi:type="dcterms:W3CDTF">2026-10-30T06:03:44Z</dcterms:modified>
</cp:coreProperties>
</file>